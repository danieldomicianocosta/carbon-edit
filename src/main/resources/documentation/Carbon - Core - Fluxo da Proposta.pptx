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42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7E37"/>
    <a:srgbClr val="5C5F62"/>
    <a:srgbClr val="EAEBED"/>
    <a:srgbClr val="FFC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B8D35-CD13-AB4C-ACEE-695D8AECF029}" v="2" dt="2025-02-28T14:03:40.9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5"/>
  </p:normalViewPr>
  <p:slideViewPr>
    <p:cSldViewPr snapToGrid="0">
      <p:cViewPr varScale="1">
        <p:scale>
          <a:sx n="124" d="100"/>
          <a:sy n="124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C18D3-D3C3-084D-A7EC-D0583E5C0C54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F9C4F-3335-8C47-A2A6-B1F1352650D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288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8D986-A260-D949-B4D0-02432E16D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770D0-E18E-C34F-8744-F976D6BF5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675E1-45BC-484F-B65F-0DB7EB21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DD97C-6510-8740-AAD9-2D3E0ADC6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EF0ED-E34C-594D-83CC-3B4ABCB8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1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ACA5-C039-B74B-A2D8-749D95443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9F9C1-460E-1C48-A01E-3F8E2FC3D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595"/>
            <a:ext cx="10515600" cy="5077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56E91-534C-5C47-8D1C-37B89792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7073-9F99-854F-AF43-63A76667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3595D-54C7-8A44-A239-32158453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6B41-F394-3D49-A425-CBF3C9C6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A6B56-17CB-4543-BC62-44DBF3C18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4F2AB-FCAA-594A-B7E7-74AB08FFF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7CE3A-A005-BB44-BD18-ADB3C222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9201B-D99F-6F40-B0E0-9EEE1E2CC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52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3C78-A275-B649-BFD6-1FB6B564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74A9-FAEB-A448-8DF2-9BE8EF68F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3E83A-BF91-F844-870A-CA35A6A38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57981-C5DC-7644-B0A4-7D5C2E8B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051B3-D011-8E4A-A128-5641F6D4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B7E39-0456-7C49-9CBD-53278E9B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72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694B-4A1B-044A-9636-D2978A943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BDD0C-D0DC-C847-B40C-6B2EC528C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2B784-77DE-0E4F-8243-E80BFE1AD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21A930-8301-6443-91C2-64897A13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17127-270F-814A-8BF9-F2D0C8747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D437D-6F5D-7949-BBB0-48838179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AC6A6-CC03-904E-B208-8921B458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792C7-C0A7-A140-9497-89B36947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7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80CD-E455-5B4B-9B3C-5A0B8D1EF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D143B-35CB-364F-9940-B179099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66923-1094-2440-BB98-4B6838751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DAA56-3FC8-804B-B695-C082349F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9505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68D4A2-FF51-FF4C-9BAD-922F6D64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0B507-9189-CC41-9840-40A8A99B3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CB239-39A3-CE45-82DB-3A78BE93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292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9625-578F-7640-BB24-F016F0475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AEA08-AB1E-E640-A0A9-B2626CDC3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7A99E-52E2-8D4A-887B-1A6844B42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D4F46-C96B-9148-901E-ACD760AB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1F14C-47A3-6C40-AC2B-D1A25B81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54F13-54F1-824F-88C8-1E7E175B7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52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A5DE-3F64-F740-9167-17F1538C9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F20CC4-4B7D-B14F-92B5-851F23616D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12A5A-7563-E44B-BA31-8CA86BF47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09E0F-EAE0-A143-BD1B-6E16E5E1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CF200-526B-ED49-AE7C-5FC77292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74FE8-C66B-2744-8935-7DEE9E17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32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1322-551F-7545-A13E-F9116B8A5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851461-BE0B-CD4F-9660-3F45C53AC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B1F4F-FC33-6D43-B5B3-14C59906C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EF7C5-3BC2-AC4E-B9DE-F92B6B72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665DE-79D3-E044-BA66-DB7AD9EB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12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780266-8ED3-0149-978D-7B7775C5F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89DED-D023-844B-81B1-9A11B6E43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6E8BE-CFE7-3148-B244-58FAEAD9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4AD57-11FE-784D-8FCE-F098DD41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F4A98-0C64-E54E-91F9-5DE73654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45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F87210-C7DA-8C41-96A1-A6EADFA4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2AB0A-5DCB-0043-B706-E368DCF80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7596B-031D-8043-B0D6-CF378B2C6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A7904-78D0-1D4A-A45F-09E8FA2632EC}" type="datetimeFigureOut">
              <a:rPr lang="pt-BR" smtClean="0"/>
              <a:t>28/02/2025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D0F81-EAC9-FE47-BAB2-B5D05D295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5D8E-3526-984F-8D6F-73FEA2CEE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2D997-35DD-6F4B-858F-E5DAA58A99C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271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E2C7861B-2E56-2124-B3A2-7803025E4C23}"/>
              </a:ext>
            </a:extLst>
          </p:cNvPr>
          <p:cNvCxnSpPr>
            <a:cxnSpLocks/>
            <a:stCxn id="24" idx="3"/>
            <a:endCxn id="11" idx="3"/>
          </p:cNvCxnSpPr>
          <p:nvPr/>
        </p:nvCxnSpPr>
        <p:spPr>
          <a:xfrm flipH="1">
            <a:off x="3424337" y="1587479"/>
            <a:ext cx="1062302" cy="2070996"/>
          </a:xfrm>
          <a:prstGeom prst="bentConnector3">
            <a:avLst>
              <a:gd name="adj1" fmla="val -21519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10650350-71B8-9ED6-35E2-F412B7F203E6}"/>
              </a:ext>
            </a:extLst>
          </p:cNvPr>
          <p:cNvCxnSpPr>
            <a:cxnSpLocks/>
            <a:stCxn id="11" idx="2"/>
            <a:endCxn id="83" idx="1"/>
          </p:cNvCxnSpPr>
          <p:nvPr/>
        </p:nvCxnSpPr>
        <p:spPr>
          <a:xfrm rot="16200000" flipH="1">
            <a:off x="3117656" y="3390974"/>
            <a:ext cx="1309590" cy="2090812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80ED88-F36E-D345-9346-E088D0685A21}"/>
              </a:ext>
            </a:extLst>
          </p:cNvPr>
          <p:cNvSpPr txBox="1"/>
          <p:nvPr/>
        </p:nvSpPr>
        <p:spPr>
          <a:xfrm>
            <a:off x="2029751" y="891921"/>
            <a:ext cx="139458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i="1">
                <a:latin typeface="Sul Sans Light" panose="020B0803030403020204" pitchFamily="34" charset="77"/>
              </a:defRPr>
            </a:lvl1pPr>
          </a:lstStyle>
          <a:p>
            <a:r>
              <a:rPr lang="pt-BR" sz="1000"/>
              <a:t>EM EDIÇÃO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7CD26-DD84-B540-AE41-4F3A21CEC2A3}"/>
              </a:ext>
            </a:extLst>
          </p:cNvPr>
          <p:cNvSpPr txBox="1"/>
          <p:nvPr/>
        </p:nvSpPr>
        <p:spPr>
          <a:xfrm>
            <a:off x="2029752" y="1962232"/>
            <a:ext cx="1394585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i="1">
                <a:latin typeface="Sul Sans Light" panose="020B0803030403020204" pitchFamily="34" charset="77"/>
              </a:defRPr>
            </a:lvl1pPr>
          </a:lstStyle>
          <a:p>
            <a:r>
              <a:rPr lang="pt-BR" sz="1000"/>
              <a:t>EM APROVAÇÃO COMERCIAL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98FBBE-5C07-E042-BFA1-EF86A5D5FADC}"/>
              </a:ext>
            </a:extLst>
          </p:cNvPr>
          <p:cNvSpPr txBox="1"/>
          <p:nvPr/>
        </p:nvSpPr>
        <p:spPr>
          <a:xfrm>
            <a:off x="2029752" y="3535364"/>
            <a:ext cx="1394585" cy="2462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00" i="1">
                <a:latin typeface="Sul Sans Light" panose="020B0803030403020204" pitchFamily="34" charset="77"/>
              </a:rPr>
              <a:t>PRPOPOSTA ENVIADA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A2B1D2-DD2F-E84F-BFD6-1CE51B8E1798}"/>
              </a:ext>
            </a:extLst>
          </p:cNvPr>
          <p:cNvSpPr txBox="1"/>
          <p:nvPr/>
        </p:nvSpPr>
        <p:spPr>
          <a:xfrm>
            <a:off x="3092054" y="1387424"/>
            <a:ext cx="1394585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i="1">
                <a:latin typeface="Sul Sans Light" panose="020B0803030403020204" pitchFamily="34" charset="77"/>
              </a:defRPr>
            </a:lvl1pPr>
          </a:lstStyle>
          <a:p>
            <a:r>
              <a:rPr lang="pt-BR"/>
              <a:t>REPROVADO COMERCIAL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41B63486-1E87-9242-A90E-4865107D4DB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16200000" flipH="1">
            <a:off x="2314999" y="1550186"/>
            <a:ext cx="824090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32884AE-FF6A-0E4F-B940-7A4AF6B07DF4}"/>
              </a:ext>
            </a:extLst>
          </p:cNvPr>
          <p:cNvCxnSpPr>
            <a:cxnSpLocks/>
            <a:stCxn id="24" idx="1"/>
            <a:endCxn id="9" idx="0"/>
          </p:cNvCxnSpPr>
          <p:nvPr/>
        </p:nvCxnSpPr>
        <p:spPr>
          <a:xfrm rot="10800000" flipV="1">
            <a:off x="2727046" y="1587478"/>
            <a:ext cx="365009" cy="374753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3E69013C-3DB0-C147-9717-9A33FB89F87E}"/>
              </a:ext>
            </a:extLst>
          </p:cNvPr>
          <p:cNvCxnSpPr>
            <a:cxnSpLocks/>
            <a:stCxn id="11" idx="2"/>
            <a:endCxn id="12" idx="3"/>
          </p:cNvCxnSpPr>
          <p:nvPr/>
        </p:nvCxnSpPr>
        <p:spPr>
          <a:xfrm rot="5400000">
            <a:off x="1815547" y="3730427"/>
            <a:ext cx="860340" cy="962656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44F64E1-8A9A-A242-8251-EC20A189AC80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727045" y="3133128"/>
            <a:ext cx="0" cy="40223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498EF7AA-3BCB-154B-9FB7-9343B9EE622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727045" y="2362342"/>
            <a:ext cx="0" cy="370676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28F1C8C8-412D-2849-8643-425E29C7895A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 flipV="1">
            <a:off x="3424337" y="1787534"/>
            <a:ext cx="365010" cy="374753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A3C4ABC4-21EB-254F-9076-46ADDCA72CC0}"/>
              </a:ext>
            </a:extLst>
          </p:cNvPr>
          <p:cNvCxnSpPr>
            <a:cxnSpLocks/>
            <a:stCxn id="8" idx="1"/>
            <a:endCxn id="12" idx="0"/>
          </p:cNvCxnSpPr>
          <p:nvPr/>
        </p:nvCxnSpPr>
        <p:spPr>
          <a:xfrm rot="10800000" flipV="1">
            <a:off x="1067097" y="1015031"/>
            <a:ext cx="962654" cy="3365283"/>
          </a:xfrm>
          <a:prstGeom prst="bentConnector2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F297D332-05F4-3E48-8740-DF6529C64F4C}"/>
              </a:ext>
            </a:extLst>
          </p:cNvPr>
          <p:cNvCxnSpPr>
            <a:cxnSpLocks/>
            <a:stCxn id="9" idx="1"/>
            <a:endCxn id="12" idx="0"/>
          </p:cNvCxnSpPr>
          <p:nvPr/>
        </p:nvCxnSpPr>
        <p:spPr>
          <a:xfrm rot="10800000" flipV="1">
            <a:off x="1067098" y="2162287"/>
            <a:ext cx="962655" cy="2218028"/>
          </a:xfrm>
          <a:prstGeom prst="bentConnector2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E9C4DAF9-72CC-0443-A75A-9839A0DC5F08}"/>
              </a:ext>
            </a:extLst>
          </p:cNvPr>
          <p:cNvCxnSpPr>
            <a:cxnSpLocks/>
            <a:stCxn id="10" idx="1"/>
            <a:endCxn id="12" idx="0"/>
          </p:cNvCxnSpPr>
          <p:nvPr/>
        </p:nvCxnSpPr>
        <p:spPr>
          <a:xfrm rot="10800000" flipV="1">
            <a:off x="1067098" y="2933073"/>
            <a:ext cx="962655" cy="1447242"/>
          </a:xfrm>
          <a:prstGeom prst="bentConnector2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6B64B271-1853-8840-8B42-45B8F419FC9B}"/>
              </a:ext>
            </a:extLst>
          </p:cNvPr>
          <p:cNvCxnSpPr>
            <a:cxnSpLocks/>
            <a:stCxn id="11" idx="1"/>
            <a:endCxn id="12" idx="0"/>
          </p:cNvCxnSpPr>
          <p:nvPr/>
        </p:nvCxnSpPr>
        <p:spPr>
          <a:xfrm rot="10800000" flipV="1">
            <a:off x="1067098" y="3658475"/>
            <a:ext cx="962655" cy="721840"/>
          </a:xfrm>
          <a:prstGeom prst="bentConnector2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9BA137-61DF-134D-A15C-51B373DA03BA}"/>
              </a:ext>
            </a:extLst>
          </p:cNvPr>
          <p:cNvSpPr txBox="1"/>
          <p:nvPr/>
        </p:nvSpPr>
        <p:spPr>
          <a:xfrm>
            <a:off x="369804" y="4380315"/>
            <a:ext cx="139458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1000"/>
              <a:t>FINALIZADO </a:t>
            </a:r>
          </a:p>
          <a:p>
            <a:r>
              <a:rPr lang="pt-BR" sz="1000"/>
              <a:t>SEM VENDA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D236C1-93ED-E948-873F-ECEF6A9923B8}"/>
              </a:ext>
            </a:extLst>
          </p:cNvPr>
          <p:cNvSpPr txBox="1"/>
          <p:nvPr/>
        </p:nvSpPr>
        <p:spPr>
          <a:xfrm>
            <a:off x="5733100" y="5654636"/>
            <a:ext cx="139458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/>
              <a:t>FINALIZADO COM VENDA (OS)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BAA6A5C-2B95-914D-AACF-1E7ADE73D563}"/>
              </a:ext>
            </a:extLst>
          </p:cNvPr>
          <p:cNvSpPr txBox="1"/>
          <p:nvPr/>
        </p:nvSpPr>
        <p:spPr>
          <a:xfrm>
            <a:off x="4817857" y="4891120"/>
            <a:ext cx="1394585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i="1"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BR"/>
              <a:t>EM VALIDAÇÃO BACKOFFICE</a:t>
            </a:r>
          </a:p>
        </p:txBody>
      </p:sp>
      <p:cxnSp>
        <p:nvCxnSpPr>
          <p:cNvPr id="84" name="Elbow Connector 38">
            <a:extLst>
              <a:ext uri="{FF2B5EF4-FFF2-40B4-BE49-F238E27FC236}">
                <a16:creationId xmlns:a16="http://schemas.microsoft.com/office/drawing/2014/main" id="{1E69166F-E857-094F-9293-7EF254072FF6}"/>
              </a:ext>
            </a:extLst>
          </p:cNvPr>
          <p:cNvCxnSpPr>
            <a:cxnSpLocks/>
            <a:stCxn id="83" idx="3"/>
            <a:endCxn id="82" idx="0"/>
          </p:cNvCxnSpPr>
          <p:nvPr/>
        </p:nvCxnSpPr>
        <p:spPr>
          <a:xfrm>
            <a:off x="6212442" y="5091175"/>
            <a:ext cx="217951" cy="563461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A45743F9-1599-A84D-BE34-B73778DB1F85}"/>
              </a:ext>
            </a:extLst>
          </p:cNvPr>
          <p:cNvCxnSpPr>
            <a:cxnSpLocks/>
            <a:stCxn id="8" idx="3"/>
            <a:endCxn id="11" idx="3"/>
          </p:cNvCxnSpPr>
          <p:nvPr/>
        </p:nvCxnSpPr>
        <p:spPr>
          <a:xfrm>
            <a:off x="3424337" y="1015032"/>
            <a:ext cx="12700" cy="2643443"/>
          </a:xfrm>
          <a:prstGeom prst="bentConnector3">
            <a:avLst>
              <a:gd name="adj1" fmla="val 16454118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A75C4C1E-936C-614F-8FBC-77FB9D42AE91}"/>
              </a:ext>
            </a:extLst>
          </p:cNvPr>
          <p:cNvSpPr txBox="1"/>
          <p:nvPr/>
        </p:nvSpPr>
        <p:spPr>
          <a:xfrm>
            <a:off x="1884373" y="91532"/>
            <a:ext cx="17127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>
                <a:latin typeface="Sul Sans Medium" panose="020B0803030403020204" pitchFamily="34" charset="77"/>
              </a:rPr>
              <a:t>STATUS PROPOSTA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60601BCA-4BC5-F143-ACF0-11D88CE9E4B1}"/>
              </a:ext>
            </a:extLst>
          </p:cNvPr>
          <p:cNvSpPr/>
          <p:nvPr/>
        </p:nvSpPr>
        <p:spPr>
          <a:xfrm>
            <a:off x="7254746" y="3869519"/>
            <a:ext cx="295695" cy="12079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0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rPr>
              <a:t>CANCELADO</a:t>
            </a:r>
          </a:p>
        </p:txBody>
      </p:sp>
      <p:cxnSp>
        <p:nvCxnSpPr>
          <p:cNvPr id="210" name="Elbow Connector 209">
            <a:extLst>
              <a:ext uri="{FF2B5EF4-FFF2-40B4-BE49-F238E27FC236}">
                <a16:creationId xmlns:a16="http://schemas.microsoft.com/office/drawing/2014/main" id="{B10FAC46-836E-5247-8E1F-B53F5BBD26C1}"/>
              </a:ext>
            </a:extLst>
          </p:cNvPr>
          <p:cNvCxnSpPr>
            <a:cxnSpLocks/>
            <a:stCxn id="82" idx="3"/>
            <a:endCxn id="206" idx="2"/>
          </p:cNvCxnSpPr>
          <p:nvPr/>
        </p:nvCxnSpPr>
        <p:spPr>
          <a:xfrm flipV="1">
            <a:off x="7127685" y="5077497"/>
            <a:ext cx="274909" cy="777194"/>
          </a:xfrm>
          <a:prstGeom prst="bentConnector2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4FE73F5-A546-0E40-B110-AA535D085A59}"/>
              </a:ext>
            </a:extLst>
          </p:cNvPr>
          <p:cNvSpPr txBox="1">
            <a:spLocks noChangeAspect="1"/>
          </p:cNvSpPr>
          <p:nvPr/>
        </p:nvSpPr>
        <p:spPr>
          <a:xfrm>
            <a:off x="2637043" y="342336"/>
            <a:ext cx="180000" cy="18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1CEB83F-D7AA-004D-9778-C29E45BF770C}"/>
              </a:ext>
            </a:extLst>
          </p:cNvPr>
          <p:cNvSpPr txBox="1">
            <a:spLocks noChangeAspect="1"/>
          </p:cNvSpPr>
          <p:nvPr/>
        </p:nvSpPr>
        <p:spPr>
          <a:xfrm>
            <a:off x="2645312" y="1235158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8C121C-D6F7-8C4F-A656-BA22CC79B9E9}"/>
              </a:ext>
            </a:extLst>
          </p:cNvPr>
          <p:cNvSpPr txBox="1">
            <a:spLocks noChangeAspect="1"/>
          </p:cNvSpPr>
          <p:nvPr/>
        </p:nvSpPr>
        <p:spPr>
          <a:xfrm>
            <a:off x="3584532" y="910152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C5E78D-1A6F-D742-B754-D8F5195C1AC7}"/>
              </a:ext>
            </a:extLst>
          </p:cNvPr>
          <p:cNvSpPr txBox="1">
            <a:spLocks noChangeAspect="1"/>
          </p:cNvSpPr>
          <p:nvPr/>
        </p:nvSpPr>
        <p:spPr>
          <a:xfrm>
            <a:off x="3705944" y="1923408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21C6BF-3979-2947-852B-DE25BBA20B37}"/>
              </a:ext>
            </a:extLst>
          </p:cNvPr>
          <p:cNvSpPr txBox="1">
            <a:spLocks noChangeAspect="1"/>
          </p:cNvSpPr>
          <p:nvPr/>
        </p:nvSpPr>
        <p:spPr>
          <a:xfrm>
            <a:off x="2640217" y="2397878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277D8E9-64BC-F743-B676-3BC0B40E52F7}"/>
              </a:ext>
            </a:extLst>
          </p:cNvPr>
          <p:cNvSpPr txBox="1">
            <a:spLocks noChangeAspect="1"/>
          </p:cNvSpPr>
          <p:nvPr/>
        </p:nvSpPr>
        <p:spPr>
          <a:xfrm>
            <a:off x="2819550" y="1501416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8AEFAF5-E37B-4F47-AB95-7E241B3D6773}"/>
              </a:ext>
            </a:extLst>
          </p:cNvPr>
          <p:cNvSpPr txBox="1">
            <a:spLocks noChangeAspect="1"/>
          </p:cNvSpPr>
          <p:nvPr/>
        </p:nvSpPr>
        <p:spPr>
          <a:xfrm>
            <a:off x="2637043" y="3184743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3770FE7-0694-694F-A2D8-2A0A4557F391}"/>
              </a:ext>
            </a:extLst>
          </p:cNvPr>
          <p:cNvSpPr txBox="1">
            <a:spLocks noChangeAspect="1"/>
          </p:cNvSpPr>
          <p:nvPr/>
        </p:nvSpPr>
        <p:spPr>
          <a:xfrm>
            <a:off x="1930052" y="4557263"/>
            <a:ext cx="180000" cy="18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/>
              <a:t>11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8579A4D-51A2-C141-B169-D94C340E22B9}"/>
              </a:ext>
            </a:extLst>
          </p:cNvPr>
          <p:cNvSpPr txBox="1">
            <a:spLocks noChangeAspect="1"/>
          </p:cNvSpPr>
          <p:nvPr/>
        </p:nvSpPr>
        <p:spPr>
          <a:xfrm>
            <a:off x="6366240" y="5246907"/>
            <a:ext cx="180000" cy="18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/>
              <a:t>12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654A82-0129-C04F-BECF-DA55CAC7ABC4}"/>
              </a:ext>
            </a:extLst>
          </p:cNvPr>
          <p:cNvSpPr txBox="1">
            <a:spLocks noChangeAspect="1"/>
          </p:cNvSpPr>
          <p:nvPr/>
        </p:nvSpPr>
        <p:spPr>
          <a:xfrm>
            <a:off x="7308203" y="5396539"/>
            <a:ext cx="180000" cy="18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C</a:t>
            </a: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E307BB02-98EF-7340-9B1E-888CFD5E6799}"/>
              </a:ext>
            </a:extLst>
          </p:cNvPr>
          <p:cNvCxnSpPr>
            <a:cxnSpLocks/>
            <a:stCxn id="62" idx="4"/>
            <a:endCxn id="8" idx="0"/>
          </p:cNvCxnSpPr>
          <p:nvPr/>
        </p:nvCxnSpPr>
        <p:spPr>
          <a:xfrm>
            <a:off x="2727043" y="522336"/>
            <a:ext cx="1" cy="36958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E06D0F-2B46-DE42-9A67-5A9443597DE0}"/>
              </a:ext>
            </a:extLst>
          </p:cNvPr>
          <p:cNvCxnSpPr>
            <a:cxnSpLocks/>
          </p:cNvCxnSpPr>
          <p:nvPr/>
        </p:nvCxnSpPr>
        <p:spPr>
          <a:xfrm>
            <a:off x="7605964" y="437706"/>
            <a:ext cx="37877" cy="624815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1C4196-355B-81AC-7631-8CEB8C30194B}"/>
              </a:ext>
            </a:extLst>
          </p:cNvPr>
          <p:cNvSpPr txBox="1"/>
          <p:nvPr/>
        </p:nvSpPr>
        <p:spPr>
          <a:xfrm>
            <a:off x="410067" y="5946139"/>
            <a:ext cx="1394585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1000"/>
              <a:t>ENCERRADO SEM RETORNO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032B7-99F1-0340-8417-0DAC64363FD8}"/>
              </a:ext>
            </a:extLst>
          </p:cNvPr>
          <p:cNvSpPr txBox="1"/>
          <p:nvPr/>
        </p:nvSpPr>
        <p:spPr>
          <a:xfrm>
            <a:off x="2029752" y="2733018"/>
            <a:ext cx="1394585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i="1">
                <a:latin typeface="Sul Sans Light" panose="020B0803030403020204" pitchFamily="34" charset="77"/>
              </a:defRPr>
            </a:lvl1pPr>
          </a:lstStyle>
          <a:p>
            <a:r>
              <a:rPr lang="pt-BR" sz="1000"/>
              <a:t>APROVADO COMERCIAL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78E4B9-72EB-1B2B-57B4-FC808FFC7195}"/>
              </a:ext>
            </a:extLst>
          </p:cNvPr>
          <p:cNvSpPr txBox="1"/>
          <p:nvPr/>
        </p:nvSpPr>
        <p:spPr>
          <a:xfrm>
            <a:off x="3303197" y="4198028"/>
            <a:ext cx="1394585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i="1"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BR"/>
              <a:t>REPROVADO</a:t>
            </a:r>
          </a:p>
          <a:p>
            <a:r>
              <a:rPr lang="pt-BR"/>
              <a:t>BACKOFFICE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999C19C9-A540-4491-8A54-B73E627ECAC1}"/>
              </a:ext>
            </a:extLst>
          </p:cNvPr>
          <p:cNvCxnSpPr>
            <a:cxnSpLocks/>
            <a:stCxn id="83" idx="0"/>
            <a:endCxn id="25" idx="3"/>
          </p:cNvCxnSpPr>
          <p:nvPr/>
        </p:nvCxnSpPr>
        <p:spPr>
          <a:xfrm rot="16200000" flipV="1">
            <a:off x="4859948" y="4235918"/>
            <a:ext cx="493037" cy="817368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457A05D-7F59-F970-3D78-79A1EFDD2553}"/>
              </a:ext>
            </a:extLst>
          </p:cNvPr>
          <p:cNvCxnSpPr>
            <a:cxnSpLocks/>
            <a:stCxn id="25" idx="2"/>
            <a:endCxn id="83" idx="1"/>
          </p:cNvCxnSpPr>
          <p:nvPr/>
        </p:nvCxnSpPr>
        <p:spPr>
          <a:xfrm rot="16200000" flipH="1">
            <a:off x="4162655" y="4435972"/>
            <a:ext cx="493037" cy="817367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0880B89-9A98-6946-8DF3-88C6287337B6}"/>
              </a:ext>
            </a:extLst>
          </p:cNvPr>
          <p:cNvSpPr txBox="1">
            <a:spLocks noChangeAspect="1"/>
          </p:cNvSpPr>
          <p:nvPr/>
        </p:nvSpPr>
        <p:spPr>
          <a:xfrm>
            <a:off x="4346282" y="5001174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41529C-7477-2E95-BEBB-7BEB8E38CACA}"/>
              </a:ext>
            </a:extLst>
          </p:cNvPr>
          <p:cNvSpPr txBox="1"/>
          <p:nvPr/>
        </p:nvSpPr>
        <p:spPr>
          <a:xfrm>
            <a:off x="8094133" y="891921"/>
            <a:ext cx="286386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– Aprovação Comercial</a:t>
            </a:r>
          </a:p>
          <a:p>
            <a:r>
              <a:rPr lang="pt-BR" dirty="0"/>
              <a:t>2 – Gerar Proposta (PDF)</a:t>
            </a:r>
          </a:p>
          <a:p>
            <a:r>
              <a:rPr lang="pt-BR" dirty="0"/>
              <a:t>3 – Reprovado Comercial</a:t>
            </a:r>
          </a:p>
          <a:p>
            <a:r>
              <a:rPr lang="pt-BR" dirty="0"/>
              <a:t>4 – Aprovado Comercial</a:t>
            </a:r>
          </a:p>
          <a:p>
            <a:r>
              <a:rPr lang="pt-BR" dirty="0"/>
              <a:t>6 – Aprovação Comercial</a:t>
            </a:r>
          </a:p>
          <a:p>
            <a:r>
              <a:rPr lang="pt-BR" dirty="0"/>
              <a:t>8 – Gerar Proposta (PDF)</a:t>
            </a:r>
          </a:p>
          <a:p>
            <a:r>
              <a:rPr lang="pt-BR" dirty="0"/>
              <a:t>9 – Validação Backoffice</a:t>
            </a:r>
          </a:p>
          <a:p>
            <a:r>
              <a:rPr lang="pt-BR" dirty="0"/>
              <a:t>10 – Renegociação</a:t>
            </a:r>
          </a:p>
          <a:p>
            <a:r>
              <a:rPr lang="pt-BR" dirty="0"/>
              <a:t>11 – Finalizado Sem Venda</a:t>
            </a:r>
          </a:p>
          <a:p>
            <a:r>
              <a:rPr lang="pt-BR" dirty="0"/>
              <a:t>12 – Aprovado Backoffice</a:t>
            </a:r>
          </a:p>
          <a:p>
            <a:r>
              <a:rPr lang="pt-BR" dirty="0"/>
              <a:t>13 – Reprovado Backoffice</a:t>
            </a:r>
          </a:p>
          <a:p>
            <a:r>
              <a:rPr lang="pt-BR" dirty="0"/>
              <a:t>14 – Encerrado </a:t>
            </a:r>
            <a:r>
              <a:rPr lang="pt-BR"/>
              <a:t>Sem Retorno</a:t>
            </a:r>
          </a:p>
          <a:p>
            <a:endParaRPr lang="pt-BR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6B3844-CE07-62C2-E5CB-2F4F0C342A9E}"/>
              </a:ext>
            </a:extLst>
          </p:cNvPr>
          <p:cNvSpPr txBox="1">
            <a:spLocks noChangeAspect="1"/>
          </p:cNvSpPr>
          <p:nvPr/>
        </p:nvSpPr>
        <p:spPr>
          <a:xfrm>
            <a:off x="5244119" y="4314448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13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25650E-0CB7-7A5C-FF1B-260743AE7EAD}"/>
              </a:ext>
            </a:extLst>
          </p:cNvPr>
          <p:cNvSpPr txBox="1"/>
          <p:nvPr/>
        </p:nvSpPr>
        <p:spPr>
          <a:xfrm>
            <a:off x="101779" y="234465"/>
            <a:ext cx="13945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/>
              <a:t>Rotina Interna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3E23A-9940-9878-C305-3851667D9900}"/>
              </a:ext>
            </a:extLst>
          </p:cNvPr>
          <p:cNvSpPr txBox="1"/>
          <p:nvPr/>
        </p:nvSpPr>
        <p:spPr>
          <a:xfrm>
            <a:off x="2874250" y="5629768"/>
            <a:ext cx="22801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/>
              <a:t>Permitir Editar </a:t>
            </a:r>
          </a:p>
          <a:p>
            <a:pPr algn="ctr"/>
            <a:r>
              <a:rPr lang="pt-BR" sz="1200"/>
              <a:t>Campos Bloqueados:</a:t>
            </a:r>
          </a:p>
          <a:p>
            <a:pPr algn="ctr"/>
            <a:r>
              <a:rPr lang="pt-BR" sz="1200"/>
              <a:t>Campo com comentários</a:t>
            </a:r>
          </a:p>
          <a:p>
            <a:pPr algn="ctr"/>
            <a:r>
              <a:rPr lang="pt-BR" sz="1200" err="1"/>
              <a:t>Co-Participação</a:t>
            </a:r>
            <a:r>
              <a:rPr lang="pt-BR" sz="1200"/>
              <a:t> Comissão Interna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326CC-402F-B1B5-436D-20D592245EFC}"/>
              </a:ext>
            </a:extLst>
          </p:cNvPr>
          <p:cNvSpPr txBox="1"/>
          <p:nvPr/>
        </p:nvSpPr>
        <p:spPr>
          <a:xfrm>
            <a:off x="6002373" y="6054746"/>
            <a:ext cx="1087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Gerar OS + </a:t>
            </a:r>
          </a:p>
          <a:p>
            <a:pPr algn="ctr"/>
            <a:r>
              <a:rPr lang="pt-BR" sz="1200" dirty="0"/>
              <a:t>Integração Jira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CD1EE732-EAA8-D0CA-9FBC-63F3DD21CD1E}"/>
              </a:ext>
            </a:extLst>
          </p:cNvPr>
          <p:cNvCxnSpPr>
            <a:cxnSpLocks/>
            <a:stCxn id="24" idx="0"/>
            <a:endCxn id="12" idx="0"/>
          </p:cNvCxnSpPr>
          <p:nvPr/>
        </p:nvCxnSpPr>
        <p:spPr>
          <a:xfrm rot="16200000" flipH="1" flipV="1">
            <a:off x="931776" y="1522744"/>
            <a:ext cx="2992891" cy="2722250"/>
          </a:xfrm>
          <a:prstGeom prst="bentConnector3">
            <a:avLst>
              <a:gd name="adj1" fmla="val -6560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C40D9FE-3851-B68F-D475-986F387D6143}"/>
              </a:ext>
            </a:extLst>
          </p:cNvPr>
          <p:cNvSpPr txBox="1">
            <a:spLocks noChangeAspect="1"/>
          </p:cNvSpPr>
          <p:nvPr/>
        </p:nvSpPr>
        <p:spPr>
          <a:xfrm>
            <a:off x="968828" y="3871742"/>
            <a:ext cx="180000" cy="18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11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F79C07-D2BD-F572-ACD5-99E88038CEFB}"/>
              </a:ext>
            </a:extLst>
          </p:cNvPr>
          <p:cNvSpPr txBox="1">
            <a:spLocks noChangeAspect="1"/>
          </p:cNvSpPr>
          <p:nvPr/>
        </p:nvSpPr>
        <p:spPr>
          <a:xfrm>
            <a:off x="4638920" y="1934364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800"/>
              <a:t>2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C3E07E1D-9CDB-BB0A-B9D2-5169D54862D9}"/>
              </a:ext>
            </a:extLst>
          </p:cNvPr>
          <p:cNvCxnSpPr>
            <a:cxnSpLocks/>
            <a:stCxn id="11" idx="1"/>
            <a:endCxn id="8" idx="0"/>
          </p:cNvCxnSpPr>
          <p:nvPr/>
        </p:nvCxnSpPr>
        <p:spPr>
          <a:xfrm rot="10800000" flipH="1">
            <a:off x="2029752" y="891921"/>
            <a:ext cx="697292" cy="2766554"/>
          </a:xfrm>
          <a:prstGeom prst="bentConnector4">
            <a:avLst>
              <a:gd name="adj1" fmla="val -32784"/>
              <a:gd name="adj2" fmla="val 108263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14BC50BF-87C9-73DE-7608-D17EF930094B}"/>
              </a:ext>
            </a:extLst>
          </p:cNvPr>
          <p:cNvSpPr txBox="1">
            <a:spLocks noChangeAspect="1"/>
          </p:cNvSpPr>
          <p:nvPr/>
        </p:nvSpPr>
        <p:spPr>
          <a:xfrm>
            <a:off x="1714652" y="1375105"/>
            <a:ext cx="180000" cy="1800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/>
              <a:t>10</a:t>
            </a:r>
          </a:p>
        </p:txBody>
      </p:sp>
      <p:cxnSp>
        <p:nvCxnSpPr>
          <p:cNvPr id="2" name="Elbow Connector 1">
            <a:extLst>
              <a:ext uri="{FF2B5EF4-FFF2-40B4-BE49-F238E27FC236}">
                <a16:creationId xmlns:a16="http://schemas.microsoft.com/office/drawing/2014/main" id="{25572F26-1EC5-58B1-4AAB-61D4D27457AD}"/>
              </a:ext>
            </a:extLst>
          </p:cNvPr>
          <p:cNvCxnSpPr>
            <a:cxnSpLocks/>
            <a:stCxn id="83" idx="2"/>
            <a:endCxn id="12" idx="2"/>
          </p:cNvCxnSpPr>
          <p:nvPr/>
        </p:nvCxnSpPr>
        <p:spPr>
          <a:xfrm rot="5400000" flipH="1">
            <a:off x="3097276" y="2873357"/>
            <a:ext cx="387695" cy="4448053"/>
          </a:xfrm>
          <a:prstGeom prst="bentConnector3">
            <a:avLst>
              <a:gd name="adj1" fmla="val -58964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C0EDB5-4B78-98D8-E4D2-EB8496F34B3D}"/>
              </a:ext>
            </a:extLst>
          </p:cNvPr>
          <p:cNvSpPr txBox="1">
            <a:spLocks noChangeAspect="1"/>
          </p:cNvSpPr>
          <p:nvPr/>
        </p:nvSpPr>
        <p:spPr>
          <a:xfrm>
            <a:off x="968828" y="5069807"/>
            <a:ext cx="180000" cy="18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/>
              <a:t>11</a:t>
            </a: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99EBA0DD-0063-9692-887F-8B5A3E8E5D73}"/>
              </a:ext>
            </a:extLst>
          </p:cNvPr>
          <p:cNvCxnSpPr>
            <a:cxnSpLocks/>
            <a:stCxn id="8" idx="1"/>
            <a:endCxn id="29" idx="1"/>
          </p:cNvCxnSpPr>
          <p:nvPr/>
        </p:nvCxnSpPr>
        <p:spPr>
          <a:xfrm rot="10800000" flipV="1">
            <a:off x="410067" y="1015031"/>
            <a:ext cx="1619684" cy="5192717"/>
          </a:xfrm>
          <a:prstGeom prst="bentConnector3">
            <a:avLst>
              <a:gd name="adj1" fmla="val 114114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011BF7-3496-567C-212F-F7822D4C8AB4}"/>
              </a:ext>
            </a:extLst>
          </p:cNvPr>
          <p:cNvSpPr txBox="1">
            <a:spLocks noChangeAspect="1"/>
          </p:cNvSpPr>
          <p:nvPr/>
        </p:nvSpPr>
        <p:spPr>
          <a:xfrm>
            <a:off x="94372" y="5583783"/>
            <a:ext cx="180000" cy="18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rtlCol="0" anchor="ctr"/>
          <a:lstStyle>
            <a:defPPr>
              <a:defRPr lang="en-US"/>
            </a:defPPr>
            <a:lvl1pPr algn="ctr">
              <a:defRPr sz="800" i="1">
                <a:solidFill>
                  <a:schemeClr val="tx1">
                    <a:lumMod val="75000"/>
                    <a:lumOff val="25000"/>
                  </a:schemeClr>
                </a:solidFill>
                <a:latin typeface="Sul Sans Light" panose="020B0803030403020204" pitchFamily="34" charset="7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42492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1B2E52"/>
      </a:dk2>
      <a:lt2>
        <a:srgbClr val="289FCD"/>
      </a:lt2>
      <a:accent1>
        <a:srgbClr val="4285F4"/>
      </a:accent1>
      <a:accent2>
        <a:srgbClr val="EA4335"/>
      </a:accent2>
      <a:accent3>
        <a:srgbClr val="FBBC04"/>
      </a:accent3>
      <a:accent4>
        <a:srgbClr val="34A853"/>
      </a:accent4>
      <a:accent5>
        <a:srgbClr val="FF6D01"/>
      </a:accent5>
      <a:accent6>
        <a:srgbClr val="46BDC6"/>
      </a:accent6>
      <a:hlink>
        <a:srgbClr val="1155CC"/>
      </a:hlink>
      <a:folHlink>
        <a:srgbClr val="1155C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7fd4e23-e6c1-4e3b-b320-b75656ce022c">
      <UserInfo>
        <DisplayName/>
        <AccountId xsi:nil="true"/>
        <AccountType/>
      </UserInfo>
    </SharedWithUsers>
    <MediaLengthInSeconds xmlns="12f19bd0-d8fc-440e-babd-fad10ce6562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6FF00856422A429033F424043C3AAC" ma:contentTypeVersion="12" ma:contentTypeDescription="Crie um novo documento." ma:contentTypeScope="" ma:versionID="48c9dcfc8d950bc165b5d08c38abf305">
  <xsd:schema xmlns:xsd="http://www.w3.org/2001/XMLSchema" xmlns:xs="http://www.w3.org/2001/XMLSchema" xmlns:p="http://schemas.microsoft.com/office/2006/metadata/properties" xmlns:ns2="12f19bd0-d8fc-440e-babd-fad10ce6562e" xmlns:ns3="e7fd4e23-e6c1-4e3b-b320-b75656ce022c" targetNamespace="http://schemas.microsoft.com/office/2006/metadata/properties" ma:root="true" ma:fieldsID="1ffc4311947bb06bf9492831a20726d4" ns2:_="" ns3:_="">
    <xsd:import namespace="12f19bd0-d8fc-440e-babd-fad10ce6562e"/>
    <xsd:import namespace="e7fd4e23-e6c1-4e3b-b320-b75656ce02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f19bd0-d8fc-440e-babd-fad10ce656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fd4e23-e6c1-4e3b-b320-b75656ce022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3FAF7B-C4C8-49FB-BE02-13090F081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66F1EC-0534-404A-B176-DAE4BCED3CF5}">
  <ds:schemaRefs>
    <ds:schemaRef ds:uri="12f19bd0-d8fc-440e-babd-fad10ce6562e"/>
    <ds:schemaRef ds:uri="http://schemas.openxmlformats.org/package/2006/metadata/core-properties"/>
    <ds:schemaRef ds:uri="http://schemas.microsoft.com/office/2006/metadata/properties"/>
    <ds:schemaRef ds:uri="e7fd4e23-e6c1-4e3b-b320-b75656ce022c"/>
    <ds:schemaRef ds:uri="http://schemas.microsoft.com/office/2006/documentManagement/types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7BE32CC-7000-448A-8572-473C93B7AD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f19bd0-d8fc-440e-babd-fad10ce6562e"/>
    <ds:schemaRef ds:uri="e7fd4e23-e6c1-4e3b-b320-b75656ce02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18007</TotalTime>
  <Words>121</Words>
  <Application>Microsoft Macintosh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Sul Sans Light</vt:lpstr>
      <vt:lpstr>Sul Sans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Elisabete Monteiro</dc:creator>
  <cp:lastModifiedBy>Reyner de Marigny Castro Monteiro</cp:lastModifiedBy>
  <cp:revision>2</cp:revision>
  <cp:lastPrinted>2022-01-26T12:03:29Z</cp:lastPrinted>
  <dcterms:created xsi:type="dcterms:W3CDTF">2019-11-04T21:27:10Z</dcterms:created>
  <dcterms:modified xsi:type="dcterms:W3CDTF">2025-02-28T14:04:10Z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0x010100FF6FF00856422A429033F424043C3AAC</vt:lpwstr>
  </property>
  <property fmtid="{D5CDD505-2E9C-101B-9397-08002B2CF9AE}" pid="3" name="Order">
    <vt:r8>5554500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